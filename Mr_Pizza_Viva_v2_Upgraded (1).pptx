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drawings/drawing3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1A2E"/>
                </a:solidFill>
                <a:latin typeface="Arial"/>
              </a:rPr>
              <a:t>Monthly Revenue (₹) — Sep 2023 to Jan 2024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1A2E"/>
                </a:solidFill>
                <a:latin typeface="Arial"/>
              </a:rPr>
              <a:t>Total Revenue by Day of Week (₹)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1A2E"/>
                </a:solidFill>
                <a:latin typeface="Arial"/>
              </a:rPr>
              <a:t>Top 6 Class A Items by Revenue (₹)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919-4C61-9B31-D1B241B12E3E}"/>
              </c:ext>
            </c:extLst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919-4C61-9B31-D1B241B12E3E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919-4C61-9B31-D1B241B12E3E}"/>
              </c:ext>
            </c:extLst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919-4C61-9B31-D1B241B12E3E}"/>
              </c:ext>
            </c:extLst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919-4C61-9B31-D1B241B12E3E}"/>
              </c:ext>
            </c:extLst>
          </c:dPt>
          <c:dPt>
            <c:idx val="5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919-4C61-9B31-D1B241B12E3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Mix Veg Margharita</c:v>
                </c:pt>
                <c:pt idx="1">
                  <c:v>Kulhad Pizza</c:v>
                </c:pt>
                <c:pt idx="2">
                  <c:v>Cheese N Corn</c:v>
                </c:pt>
                <c:pt idx="3">
                  <c:v>Onion Cheese</c:v>
                </c:pt>
                <c:pt idx="4">
                  <c:v>Paneer Pizza</c:v>
                </c:pt>
                <c:pt idx="5">
                  <c:v>Tandoori Pizza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18010</c:v>
                </c:pt>
                <c:pt idx="1">
                  <c:v>16236</c:v>
                </c:pt>
                <c:pt idx="2">
                  <c:v>12570</c:v>
                </c:pt>
                <c:pt idx="3">
                  <c:v>9314</c:v>
                </c:pt>
                <c:pt idx="4">
                  <c:v>8804</c:v>
                </c:pt>
                <c:pt idx="5">
                  <c:v>8671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919-4C61-9B31-D1B241B12E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2.7777777777777776E-2"/>
          <c:y val="0.41218637992831542"/>
          <c:w val="9.5959595959595953E-2"/>
          <c:h val="0.1263440860215053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E03-42B3-8C45-7B0FF1DE0DFB}"/>
              </c:ext>
            </c:extLst>
          </c:dPt>
          <c:dPt>
            <c:idx val="1"/>
            <c:invertIfNegative val="0"/>
            <c:bubble3D val="0"/>
            <c:spPr>
              <a:solidFill>
                <a:srgbClr val="E070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03-42B3-8C45-7B0FF1DE0DFB}"/>
              </c:ext>
            </c:extLst>
          </c:dPt>
          <c:dPt>
            <c:idx val="2"/>
            <c:invertIfNegative val="0"/>
            <c:bubble3D val="0"/>
            <c:spPr>
              <a:solidFill>
                <a:srgbClr val="C04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03-42B3-8C45-7B0FF1DE0DFB}"/>
              </c:ext>
            </c:extLst>
          </c:dPt>
          <c:dPt>
            <c:idx val="3"/>
            <c:invertIfNegative val="0"/>
            <c:bubble3D val="0"/>
            <c:spPr>
              <a:solidFill>
                <a:srgbClr val="A03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03-42B3-8C45-7B0FF1DE0DFB}"/>
              </c:ext>
            </c:extLst>
          </c:dPt>
          <c:dPt>
            <c:idx val="4"/>
            <c:invertIfNegative val="0"/>
            <c:bubble3D val="0"/>
            <c:spPr>
              <a:solidFill>
                <a:srgbClr val="802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03-42B3-8C45-7B0FF1DE0DFB}"/>
              </c:ext>
            </c:extLst>
          </c:dPt>
          <c:dPt>
            <c:idx val="5"/>
            <c:invertIfNegative val="0"/>
            <c:bubble3D val="0"/>
            <c:spPr>
              <a:solidFill>
                <a:srgbClr val="602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03-42B3-8C45-7B0FF1DE0DFB}"/>
              </c:ext>
            </c:extLst>
          </c:dPt>
          <c:dPt>
            <c:idx val="6"/>
            <c:invertIfNegative val="0"/>
            <c:bubble3D val="0"/>
            <c:spPr>
              <a:solidFill>
                <a:srgbClr val="502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E03-42B3-8C45-7B0FF1DE0DFB}"/>
              </c:ext>
            </c:extLst>
          </c:dPt>
          <c:dPt>
            <c:idx val="7"/>
            <c:invertIfNegative val="0"/>
            <c:bubble3D val="0"/>
            <c:spPr>
              <a:solidFill>
                <a:srgbClr val="401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E03-42B3-8C45-7B0FF1DE0DFB}"/>
              </c:ext>
            </c:extLst>
          </c:dPt>
          <c:dPt>
            <c:idx val="8"/>
            <c:invertIfNegative val="0"/>
            <c:bubble3D val="0"/>
            <c:spPr>
              <a:solidFill>
                <a:srgbClr val="3000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E03-42B3-8C45-7B0FF1DE0DF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Pizza</c:v>
                </c:pt>
                <c:pt idx="1">
                  <c:v>Burger</c:v>
                </c:pt>
                <c:pt idx="2">
                  <c:v>Shake</c:v>
                </c:pt>
                <c:pt idx="3">
                  <c:v>Dessert</c:v>
                </c:pt>
                <c:pt idx="4">
                  <c:v>Beverage</c:v>
                </c:pt>
                <c:pt idx="5">
                  <c:v>Combo</c:v>
                </c:pt>
                <c:pt idx="6">
                  <c:v>Bread</c:v>
                </c:pt>
                <c:pt idx="7">
                  <c:v>Hot Dog</c:v>
                </c:pt>
                <c:pt idx="8">
                  <c:v>Add-on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121956</c:v>
                </c:pt>
                <c:pt idx="1">
                  <c:v>11933</c:v>
                </c:pt>
                <c:pt idx="2">
                  <c:v>7880</c:v>
                </c:pt>
                <c:pt idx="3">
                  <c:v>3555</c:v>
                </c:pt>
                <c:pt idx="4">
                  <c:v>3380</c:v>
                </c:pt>
                <c:pt idx="5">
                  <c:v>2037</c:v>
                </c:pt>
                <c:pt idx="6">
                  <c:v>797</c:v>
                </c:pt>
                <c:pt idx="7">
                  <c:v>700</c:v>
                </c:pt>
                <c:pt idx="8">
                  <c:v>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E03-42B3-8C45-7B0FF1DE0D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622EE5F5-2752-F788-418E-BF9CB00882F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2342857" cy="8800000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C91372D9-6346-1EA6-90EB-995DA92243C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2342857" cy="8800000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D10646C5-C03D-AC79-C293-D738B01A0C1E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12342857" cy="9085714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74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22f3000223@ds.study.iitm.ac.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132320" y="64008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85146" y="662985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100" dirty="0">
                <a:solidFill>
                  <a:srgbClr val="FFFFFF"/>
                </a:solidFill>
              </a:rPr>
              <a:t>OPTIMIZING SALES FORECASTING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95400" y="1052451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100" dirty="0">
                <a:solidFill>
                  <a:srgbClr val="F39C12"/>
                </a:solidFill>
              </a:rPr>
              <a:t>&amp; INVENTORY MANAGEMENT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04900" y="1497771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AAAAA"/>
                </a:solidFill>
              </a:rPr>
              <a:t>for Mr. Pizza Shop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50906" y="1942428"/>
            <a:ext cx="5486400" cy="13716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653" y="1839807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</a:rPr>
              <a:t>Lakshika Dev  |  Roll No: 22F3000223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hlinkClick r:id="rId3"/>
              </a:rPr>
              <a:t>22f3000223@ds.study.iitm.ac.in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8160" y="470238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br>
              <a:rPr lang="en-US" sz="1200" i="1" dirty="0">
                <a:solidFill>
                  <a:srgbClr val="888888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IITM Online BS Degree Program, </a:t>
            </a:r>
          </a:p>
          <a:p>
            <a:pPr algn="ctr"/>
            <a:r>
              <a:rPr lang="en-IN" sz="1200" dirty="0">
                <a:solidFill>
                  <a:schemeClr val="bg1"/>
                </a:solidFill>
              </a:rPr>
              <a:t>Indian Institute of </a:t>
            </a:r>
            <a:r>
              <a:rPr lang="en-IN" sz="1050" dirty="0">
                <a:solidFill>
                  <a:schemeClr val="bg1"/>
                </a:solidFill>
              </a:rPr>
              <a:t>Technology, Madras, Chennai </a:t>
            </a:r>
          </a:p>
          <a:p>
            <a:pPr algn="ctr"/>
            <a:r>
              <a:rPr lang="en-IN" sz="1050" dirty="0">
                <a:solidFill>
                  <a:schemeClr val="bg1"/>
                </a:solidFill>
              </a:rPr>
              <a:t>Tamil Nadu, India, 600036</a:t>
            </a:r>
          </a:p>
          <a:p>
            <a:br>
              <a:rPr lang="en-IN" sz="1200" dirty="0"/>
            </a:b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793A12-2FB7-1F11-C2DC-2FC2DB7A23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4353" y="2845647"/>
            <a:ext cx="1650999" cy="160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C2E850F-B221-CE61-3022-7D60D9DDEBF2}"/>
              </a:ext>
            </a:extLst>
          </p:cNvPr>
          <p:cNvSpPr txBox="1"/>
          <p:nvPr/>
        </p:nvSpPr>
        <p:spPr>
          <a:xfrm>
            <a:off x="2284307" y="9034"/>
            <a:ext cx="45753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BDM Capstone Project </a:t>
            </a:r>
            <a:endParaRPr lang="en-IN" sz="3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686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256032" y="822960"/>
            <a:ext cx="3246120" cy="4160520"/>
          </a:xfrm>
          <a:prstGeom prst="roundRect">
            <a:avLst>
              <a:gd name="adj" fmla="val 5070"/>
            </a:avLst>
          </a:prstGeom>
          <a:solidFill>
            <a:srgbClr val="111111"/>
          </a:solidFill>
          <a:ln w="19050">
            <a:solidFill>
              <a:srgbClr val="CCCCCC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" y="859536"/>
            <a:ext cx="3172968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567428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Mr. Prakash Singh Danu  ·  Owner, Mr. Pizza  ·  Kathgodam, Uttarakhand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703320" y="822960"/>
            <a:ext cx="5166360" cy="1188720"/>
          </a:xfrm>
          <a:prstGeom prst="roundRect">
            <a:avLst>
              <a:gd name="adj" fmla="val 11538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58768" y="88696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150" b="1" dirty="0">
                <a:solidFill>
                  <a:srgbClr val="FFFFFF"/>
                </a:solidFill>
              </a:rPr>
              <a:t>Mr. Pizza </a:t>
            </a:r>
            <a:r>
              <a:rPr lang="en-US" sz="1150" dirty="0">
                <a:solidFill>
                  <a:srgbClr val="FFFFFF"/>
                </a:solidFill>
              </a:rPr>
              <a:t>is a single-operator B2C food outlet in Kathgodam, Uttarakhand (Est. 2023). Run entirely by Mr. Prakash Singh Danu. 54 menu items, 9 categories, walk-in + Zomato. Primary data: owner's handwritten sales notebook.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703320" y="2125980"/>
            <a:ext cx="5166360" cy="1389888"/>
          </a:xfrm>
          <a:prstGeom prst="roundRect">
            <a:avLst>
              <a:gd name="adj" fmla="val 9868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58768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Three problems identified through owner interviews: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858768" y="2436876"/>
            <a:ext cx="4846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00" b="1" dirty="0">
                <a:solidFill>
                  <a:srgbClr val="F39C12"/>
                </a:solidFill>
              </a:rPr>
              <a:t>P1  </a:t>
            </a:r>
            <a:r>
              <a:rPr lang="en-US" sz="1100" dirty="0">
                <a:solidFill>
                  <a:srgbClr val="FFFFFF"/>
                </a:solidFill>
              </a:rPr>
              <a:t>Cannot forecast demand → wastage + stockouts
</a:t>
            </a:r>
            <a:r>
              <a:rPr lang="en-US" sz="1100" b="1" dirty="0">
                <a:solidFill>
                  <a:srgbClr val="F39C12"/>
                </a:solidFill>
              </a:rPr>
              <a:t>P2  </a:t>
            </a:r>
            <a:r>
              <a:rPr lang="en-US" sz="1100" dirty="0">
                <a:solidFill>
                  <a:srgbClr val="FFFFFF"/>
                </a:solidFill>
              </a:rPr>
              <a:t>No inventory system → 54 items managed by guesswork
</a:t>
            </a:r>
            <a:r>
              <a:rPr lang="en-US" sz="1100" b="1" dirty="0">
                <a:solidFill>
                  <a:srgbClr val="F39C12"/>
                </a:solidFill>
              </a:rPr>
              <a:t>P3  </a:t>
            </a:r>
            <a:r>
              <a:rPr lang="en-US" sz="1100" dirty="0">
                <a:solidFill>
                  <a:srgbClr val="FFFFFF"/>
                </a:solidFill>
              </a:rPr>
              <a:t>No pattern insight → Tuesday = only 1/3 of Sunday revenue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03320" y="3630168"/>
            <a:ext cx="5166360" cy="301752"/>
          </a:xfrm>
          <a:prstGeom prst="roundRect">
            <a:avLst>
              <a:gd name="adj" fmla="val 21212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22192" y="3630168"/>
            <a:ext cx="4974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📈  P1 — 4-Week Moving Average (MA4) · Time series analysis of seasonal demand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703320" y="3977640"/>
            <a:ext cx="5166360" cy="301752"/>
          </a:xfrm>
          <a:prstGeom prst="roundRect">
            <a:avLst>
              <a:gd name="adj" fmla="val 21212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22192" y="3977640"/>
            <a:ext cx="4974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📦  P2 — ABC Inventory Classification · Pareto-based 3-tier stocking priority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703320" y="4325112"/>
            <a:ext cx="5166360" cy="301752"/>
          </a:xfrm>
          <a:prstGeom prst="roundRect">
            <a:avLst>
              <a:gd name="adj" fmla="val 21212"/>
            </a:avLst>
          </a:prstGeom>
          <a:solidFill>
            <a:srgbClr val="884EA0"/>
          </a:solidFill>
          <a:ln w="12700">
            <a:solidFill>
              <a:srgbClr val="884E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22192" y="4325112"/>
            <a:ext cx="4974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📅  P3 — Day-of-Week Pattern Analysis · Identify peak/trough days for promotions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816352" cy="54864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🧾  Sales Transactions Dataset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481328"/>
            <a:ext cx="2816352" cy="2011680"/>
          </a:xfrm>
          <a:prstGeom prst="roundRect">
            <a:avLst>
              <a:gd name="adj" fmla="val 5455"/>
            </a:avLst>
          </a:prstGeom>
          <a:solidFill>
            <a:srgbClr val="F9FAFB"/>
          </a:solidFill>
          <a:ln w="889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997 line-item records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139 trading days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Sep 2023 – Jan 2024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6151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Source: Handwritten notebook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962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Fields: Date · Item · Size · Qty · Price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2816352" cy="347472"/>
          </a:xfrm>
          <a:prstGeom prst="roundRect">
            <a:avLst>
              <a:gd name="adj" fmla="val 21053"/>
            </a:avLst>
          </a:prstGeom>
          <a:solidFill>
            <a:srgbClr val="C0392B">
              <a:alpha val="15000"/>
            </a:srgbClr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520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★  Primary data — collected in-person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18688" y="914400"/>
            <a:ext cx="2816352" cy="548640"/>
          </a:xfrm>
          <a:prstGeom prst="roundRect">
            <a:avLst>
              <a:gd name="adj" fmla="val 1666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914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Item Master / Lookup Sheet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18688" y="1481328"/>
            <a:ext cx="2816352" cy="2011680"/>
          </a:xfrm>
          <a:prstGeom prst="roundRect">
            <a:avLst>
              <a:gd name="adj" fmla="val 5455"/>
            </a:avLst>
          </a:prstGeom>
          <a:solidFill>
            <a:srgbClr val="F9FAFB"/>
          </a:solidFill>
          <a:ln w="8890">
            <a:solidFill>
              <a:srgbClr val="1A52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55848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47 unique menu items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5848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Canonical price list (VLOOKUP)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5848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9 product categories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848" y="26151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Size variants: S / M / 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5848" y="2962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Unit price range: ₹30 – ₹579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18688" y="3520440"/>
            <a:ext cx="2816352" cy="347472"/>
          </a:xfrm>
          <a:prstGeom prst="roundRect">
            <a:avLst>
              <a:gd name="adj" fmla="val 21053"/>
            </a:avLst>
          </a:prstGeom>
          <a:solidFill>
            <a:srgbClr val="1A5276">
              <a:alpha val="15000"/>
            </a:srgbClr>
          </a:solidFill>
          <a:ln w="635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520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5276"/>
                </a:solidFill>
              </a:rPr>
              <a:t>★  Feature: VLOOKUP auto-fill prices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63056" y="914400"/>
            <a:ext cx="2816352" cy="548640"/>
          </a:xfrm>
          <a:prstGeom prst="roundRect">
            <a:avLst>
              <a:gd name="adj" fmla="val 16667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914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Derived Feature Engineering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63056" y="1481328"/>
            <a:ext cx="2816352" cy="2011680"/>
          </a:xfrm>
          <a:prstGeom prst="roundRect">
            <a:avLst>
              <a:gd name="adj" fmla="val 5455"/>
            </a:avLst>
          </a:prstGeom>
          <a:solidFill>
            <a:srgbClr val="F9FAFB"/>
          </a:solidFill>
          <a:ln w="8890">
            <a:solidFill>
              <a:srgbClr val="117A65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0216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Day column: =TEXT(date,'dddd')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0216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Line Total = Qty × Unit Price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0216" y="2267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Month column for aggregation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0216" y="26151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Week Number for MA4 series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0216" y="29626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▸  Daily Revenue cross-verification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63056" y="3520440"/>
            <a:ext cx="2816352" cy="347472"/>
          </a:xfrm>
          <a:prstGeom prst="roundRect">
            <a:avLst>
              <a:gd name="adj" fmla="val 21053"/>
            </a:avLst>
          </a:prstGeom>
          <a:solidFill>
            <a:srgbClr val="117A65">
              <a:alpha val="15000"/>
            </a:srgbClr>
          </a:solidFill>
          <a:ln w="6350">
            <a:solidFill>
              <a:srgbClr val="117A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520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17A65"/>
                </a:solidFill>
              </a:rPr>
              <a:t>★  Cross-check: 0% discrepancy found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40050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Data Cleaning Process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4343400"/>
            <a:ext cx="1627632" cy="65836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43434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1. Manual digitization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938528" y="448056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011680" y="4343400"/>
            <a:ext cx="1627632" cy="65836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75688" y="43434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2. Name standardisation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('Thandoori'→'Tandoori')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75888" y="448056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749040" y="4343400"/>
            <a:ext cx="1627632" cy="65836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13048" y="43434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3. Outlier flagged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(₹7,425 catering day)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13248" y="448056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486400" y="4343400"/>
            <a:ext cx="1627632" cy="658368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50408" y="43434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4. Cross-verified vs.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owner's daily totals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50608" y="4480560"/>
            <a:ext cx="137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223760" y="4343400"/>
            <a:ext cx="1627632" cy="658368"/>
          </a:xfrm>
          <a:prstGeom prst="roundRect">
            <a:avLst>
              <a:gd name="adj" fmla="val 1250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87768" y="434340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5. 0% discrepancy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confirmed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Sales Forecasting: MA4 Time Series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3703320" cy="1572768"/>
          </a:xfrm>
          <a:prstGeom prst="roundRect">
            <a:avLst>
              <a:gd name="adj" fmla="val 8721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87552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4-Week Moving Average Formula: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MA4(t) = [R(t) + R(t−1) + R(t−2) + R(t−3)] ÷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3438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Where R(t) = total revenue in week t.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MA4 smooths week-to-week noise and reveals the underlying seasonal trend. Computed in Google Sheets using AVERAGE() across a 4-cell rolling window.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2628900"/>
            <a:ext cx="3703320" cy="1325880"/>
          </a:xfrm>
          <a:prstGeom prst="roundRect">
            <a:avLst>
              <a:gd name="adj" fmla="val 10345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Seasonal Adjustment Factors: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438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S(m) = [Actual(m) − MA4(m)] ÷ MA4(m) × 100%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34381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B3B3"/>
                </a:solidFill>
              </a:rPr>
              <a:t>S(December) ≈ −14.4%  → reduce MA4 by 15%
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3FFB3"/>
                </a:solidFill>
              </a:rPr>
              <a:t>S(January) ≈ +16.5%  → increase MA4 by 20%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995928"/>
            <a:ext cx="3703320" cy="960120"/>
          </a:xfrm>
          <a:prstGeom prst="roundRect">
            <a:avLst>
              <a:gd name="adj" fmla="val 14286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059936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MA4, not ARIMA?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325112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DDDDFF"/>
                </a:solidFill>
              </a:rPr>
              <a:t>Only 5 months (20 weekly points) — ARIMA needs 2+ years. MA4 is also computable by the owner in a notebook in &lt; 5 minutes, with zero software.</a:t>
            </a:r>
            <a:endParaRPr lang="en-US" sz="10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3144832306"/>
              </p:ext>
            </p:extLst>
          </p:nvPr>
        </p:nvGraphicFramePr>
        <p:xfrm>
          <a:off x="4160520" y="868680"/>
          <a:ext cx="46634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4160520" y="3493008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0" y="3493008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25.4% decline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Sep → Dec (₹8,623 – 25% drop)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33288" y="3493008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79008" y="3493008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+36.1% Jan recovery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₹34,443 — highest month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06056" y="3493008"/>
            <a:ext cx="1463040" cy="822960"/>
          </a:xfrm>
          <a:prstGeom prst="roundRect">
            <a:avLst>
              <a:gd name="adj" fmla="val 1111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51776" y="3493008"/>
            <a:ext cx="13898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Procurement rule: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MA4 every Friday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160520" y="4407408"/>
            <a:ext cx="4663440" cy="594360"/>
          </a:xfrm>
          <a:prstGeom prst="roundRect">
            <a:avLst>
              <a:gd name="adj" fmla="val 15385"/>
            </a:avLst>
          </a:prstGeom>
          <a:solidFill>
            <a:srgbClr val="E8F8F5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97680" y="440740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8449"/>
                </a:solidFill>
              </a:rPr>
              <a:t>✅  Practical Rule: Every Friday, average last 4 weeks' revenue = next week's procurement target.  Apply –15% in Nov–Dec  |  +20% in January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Customer Patterns: Day-of-Week Revenue Analysis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872463943"/>
              </p:ext>
            </p:extLst>
          </p:nvPr>
        </p:nvGraphicFramePr>
        <p:xfrm>
          <a:off x="320040" y="841248"/>
          <a:ext cx="5074920" cy="2944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532120" y="804672"/>
            <a:ext cx="3337560" cy="87782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50992" y="859536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DDDD"/>
                </a:solidFill>
              </a:rPr>
              <a:t>☀️  SUNDAY PEAK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650992" y="106070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₹36,600 — 24.0% of weekly revenue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650992" y="128930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EEEEE"/>
                </a:solidFill>
              </a:rPr>
              <a:t>WHY: Rest day in India → families dine out, Zomato spikes. 2.8× more than Tuesday. Stockout = ~₹5,600 lost.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532120" y="1737360"/>
            <a:ext cx="3337560" cy="877824"/>
          </a:xfrm>
          <a:prstGeom prst="roundRect">
            <a:avLst>
              <a:gd name="adj" fmla="val 12500"/>
            </a:avLst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50992" y="1792224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DDDD"/>
                </a:solidFill>
              </a:rPr>
              <a:t>📉  TUESDAY TROUGH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650992" y="1993392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₹13,104 — 8.6% of weekly revenue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50992" y="222199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EEEEE"/>
                </a:solidFill>
              </a:rPr>
              <a:t>WHY: Mid-week workday, no social trigger. Structural unused capacity. Fix: Tuesday Kulhad Pizza combo.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32120" y="2670048"/>
            <a:ext cx="3337560" cy="877824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50992" y="272491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DDDD"/>
                </a:solidFill>
              </a:rPr>
              <a:t>📊  WEEKEND PREMIUM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650992" y="292608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78% higher revenue/day vs weekdays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50992" y="315468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EEEEE"/>
                </a:solidFill>
              </a:rPr>
              <a:t>Sat+Sun = 41.6% of revenue from just 2 days. High asset AND high stockout risk concentration.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32120" y="3602736"/>
            <a:ext cx="3337560" cy="877824"/>
          </a:xfrm>
          <a:prstGeom prst="roundRect">
            <a:avLst>
              <a:gd name="adj" fmla="val 125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50992" y="365760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DDDD"/>
                </a:solidFill>
              </a:rPr>
              <a:t>❓  WEDNESDAY SURPRISE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650992" y="385876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₹20,729 — beats Thu &amp; Fri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50992" y="408736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EEEEE"/>
                </a:solidFill>
              </a:rPr>
              <a:t>local Kathgodam market day.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04535" y="4556490"/>
            <a:ext cx="8549640" cy="566928"/>
          </a:xfrm>
          <a:prstGeom prst="roundRect">
            <a:avLst>
              <a:gd name="adj" fmla="val 16129"/>
            </a:avLst>
          </a:prstGeom>
          <a:solidFill>
            <a:srgbClr val="FEF3C7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1695" y="4566676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7A4F00"/>
                </a:solidFill>
              </a:rPr>
              <a:t>📌  RECOMMENDATION: </a:t>
            </a:r>
            <a:r>
              <a:rPr lang="en-US" sz="1050" dirty="0">
                <a:solidFill>
                  <a:srgbClr val="7A4F00"/>
                </a:solidFill>
              </a:rPr>
              <a:t>Tuesday Combo — Kulhad Pizza + Cold Drink at ₹120 (~10% off combined ₹134). Promoted via handwritten sign.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7A4F00"/>
                </a:solidFill>
              </a:rPr>
              <a:t>Target: +20% Tuesday revenue within 8 weeks → ~₹2,600/month incremental revenue.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Inventory Management: ABC Classification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8549640" cy="530352"/>
          </a:xfrm>
          <a:prstGeom prst="roundRect">
            <a:avLst>
              <a:gd name="adj" fmla="val 25862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04672"/>
            <a:ext cx="8549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Formula:  Share(i) = R(i) ÷ R(total) × 100%   |   Cumulative Share(k) = Σ Share(i)   |   Class A ≤ 70%  ·  Class B: 70–90%  ·  Class C: &gt; 90%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417320"/>
          <a:ext cx="7635240" cy="1901952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Stocking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Veg Margharita · Kulhad Pizza · Cheese N Corn · Onion Cheese · Paneer Pizza · Tandoori Pizza + 6 more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₹72,605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in stock; 2-day buffer on 7 core ingredients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 Burger · Spicy Mix Veg Pizza · Overloaded Cheese Pizza · Veg Cheese Burger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₹22,661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review; reorder at 1-day supply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Dog · Bread · Add-ons · Desserts · Beverages · remaining 32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₹57,413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on demand ONLY — stop pre-stocking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97180" y="3346386"/>
            <a:ext cx="8549640" cy="438912"/>
          </a:xfrm>
          <a:prstGeom prst="roundRect">
            <a:avLst>
              <a:gd name="adj" fmla="val 20833"/>
            </a:avLst>
          </a:prstGeom>
          <a:solidFill>
            <a:srgbClr val="D5F5E3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331470" y="3345691"/>
            <a:ext cx="8549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8449"/>
                </a:solidFill>
              </a:rPr>
              <a:t>🔑  7 shared core ingredients cover ALL Class A items:  Cheese  ·  Pizza Base  ·  Tomato Sauce  ·  Capsicum  ·  Corn  ·  Onion  ·  Paneer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88620" y="389737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" y="3822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₹72,605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20040" y="4315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</a:rPr>
              <a:t>Class A revenue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</a:rPr>
              <a:t>protected from stockout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34690" y="3922776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0" y="3822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47.5%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200400" y="4315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</a:rPr>
              <a:t>Revenue from top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</a:rPr>
              <a:t>12 pizza items only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80760" y="3895981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Text 12"/>
          <p:cNvSpPr/>
          <p:nvPr/>
        </p:nvSpPr>
        <p:spPr>
          <a:xfrm>
            <a:off x="6080760" y="38221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37 items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080760" y="43159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</a:rPr>
              <a:t>Class C — stop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EEEEE"/>
                </a:solidFill>
              </a:rPr>
              <a:t>pre-stocking immediately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Analysis: Top Revenue Items &amp; ABC-XYZ Extension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20040" y="822960"/>
          <a:ext cx="502920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352738" y="4134941"/>
            <a:ext cx="8549640" cy="841248"/>
          </a:xfrm>
          <a:prstGeom prst="roundRect">
            <a:avLst>
              <a:gd name="adj" fmla="val 10870"/>
            </a:avLst>
          </a:prstGeom>
          <a:solidFill>
            <a:srgbClr val="FEF3C7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110402"/>
            <a:ext cx="8275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A4F00"/>
                </a:solidFill>
              </a:rPr>
              <a:t>📌  Top 2 items (Mix Veg Margharita + Kulhad Pizza) = ₹34,345 = 22.5% of total revenue from just 2 of 54 items.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A4F00"/>
                </a:solidFill>
              </a:rPr>
              <a:t>     Kulhad Pizza = 164 units (highest volume) at ₹99 — the entry-point product anchoring repeat visits. Never let this stock out.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554980" y="644825"/>
            <a:ext cx="3347398" cy="3490115"/>
          </a:xfrm>
          <a:prstGeom prst="roundRect">
            <a:avLst>
              <a:gd name="adj" fmla="val 4348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5673852" y="644826"/>
            <a:ext cx="3127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/>
              <a:t>Why ABC-XYZ Would Be Better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42432" y="1463388"/>
            <a:ext cx="2857558" cy="2072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F39C12"/>
                </a:solidFill>
              </a:rPr>
              <a:t>ABC</a:t>
            </a:r>
            <a:r>
              <a:rPr lang="en-US" sz="1000" dirty="0">
                <a:solidFill>
                  <a:srgbClr val="DDDDFF"/>
                </a:solidFill>
              </a:rPr>
              <a:t> classifies by </a:t>
            </a:r>
            <a:r>
              <a:rPr lang="en-US" sz="1000" b="1" dirty="0">
                <a:solidFill>
                  <a:srgbClr val="FFFFFF"/>
                </a:solidFill>
              </a:rPr>
              <a:t>revenue value</a:t>
            </a:r>
            <a:r>
              <a:rPr lang="en-US" sz="1000" dirty="0">
                <a:solidFill>
                  <a:srgbClr val="DDDDFF"/>
                </a:solidFill>
              </a:rPr>
              <a:t> only.
</a:t>
            </a:r>
            <a:r>
              <a:rPr lang="en-US" sz="1000" b="1" dirty="0">
                <a:solidFill>
                  <a:srgbClr val="F39C12"/>
                </a:solidFill>
              </a:rPr>
              <a:t>XYZ</a:t>
            </a:r>
            <a:r>
              <a:rPr lang="en-US" sz="1000" dirty="0">
                <a:solidFill>
                  <a:srgbClr val="DDDDFF"/>
                </a:solidFill>
              </a:rPr>
              <a:t> adds </a:t>
            </a:r>
            <a:r>
              <a:rPr lang="en-US" sz="1000" b="1" dirty="0">
                <a:solidFill>
                  <a:srgbClr val="FFFFFF"/>
                </a:solidFill>
              </a:rPr>
              <a:t>demand variability</a:t>
            </a:r>
            <a:r>
              <a:rPr lang="en-US" sz="1000" dirty="0">
                <a:solidFill>
                  <a:srgbClr val="DDDDFF"/>
                </a:solidFill>
              </a:rPr>
              <a:t> (via CV):
</a:t>
            </a:r>
            <a:r>
              <a:rPr lang="en-US" sz="1000" b="1" dirty="0">
                <a:solidFill>
                  <a:srgbClr val="90EE90"/>
                </a:solidFill>
              </a:rPr>
              <a:t>X</a:t>
            </a:r>
            <a:r>
              <a:rPr lang="en-US" sz="1000" dirty="0">
                <a:solidFill>
                  <a:srgbClr val="DDDDFF"/>
                </a:solidFill>
              </a:rPr>
              <a:t> = Stable demand (CV &lt; 10%)
</a:t>
            </a:r>
            <a:r>
              <a:rPr lang="en-US" sz="1000" b="1" dirty="0">
                <a:solidFill>
                  <a:srgbClr val="FFD700"/>
                </a:solidFill>
              </a:rPr>
              <a:t>Y</a:t>
            </a:r>
            <a:r>
              <a:rPr lang="en-US" sz="1000" dirty="0">
                <a:solidFill>
                  <a:srgbClr val="DDDDFF"/>
                </a:solidFill>
              </a:rPr>
              <a:t> = Variable demand (CV 10–25%)
</a:t>
            </a:r>
            <a:r>
              <a:rPr lang="en-US" sz="1000" b="1" dirty="0">
                <a:solidFill>
                  <a:srgbClr val="FF6B6B"/>
                </a:solidFill>
              </a:rPr>
              <a:t>Z</a:t>
            </a:r>
            <a:r>
              <a:rPr lang="en-US" sz="1000" dirty="0">
                <a:solidFill>
                  <a:srgbClr val="DDDDFF"/>
                </a:solidFill>
              </a:rPr>
              <a:t> = Erratic demand (CV &gt; 25%)
</a:t>
            </a:r>
            <a:r>
              <a:rPr lang="en-US" sz="1000" b="1" dirty="0">
                <a:solidFill>
                  <a:srgbClr val="FF6B6B"/>
                </a:solidFill>
              </a:rPr>
              <a:t>A-Z item</a:t>
            </a:r>
            <a:r>
              <a:rPr lang="en-US" sz="1000" dirty="0">
                <a:solidFill>
                  <a:srgbClr val="DDDDFF"/>
                </a:solidFill>
              </a:rPr>
              <a:t> = high revenue + unpredictable
→ needs a large safety stock buffer
</a:t>
            </a:r>
            <a:r>
              <a:rPr lang="en-US" sz="1000" b="1" dirty="0">
                <a:solidFill>
                  <a:srgbClr val="F39C12"/>
                </a:solidFill>
              </a:rPr>
              <a:t>Why not done: </a:t>
            </a:r>
            <a:r>
              <a:rPr lang="en-US" sz="1000" dirty="0">
                <a:solidFill>
                  <a:srgbClr val="DDDDFF"/>
                </a:solidFill>
              </a:rPr>
              <a:t>Only 5 months → too few data points per item for reliable CV.
</a:t>
            </a:r>
            <a:r>
              <a:rPr lang="en-US" sz="1000" b="1" dirty="0">
                <a:solidFill>
                  <a:srgbClr val="90EE90"/>
                </a:solidFill>
              </a:rPr>
              <a:t>First enhancement </a:t>
            </a:r>
            <a:r>
              <a:rPr lang="en-US" sz="1000" dirty="0">
                <a:solidFill>
                  <a:srgbClr val="DDDDFF"/>
                </a:solidFill>
              </a:rPr>
              <a:t>with 12+ months: ABC-XYZ + Holt-Winters forecasting.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Analysis: Category Breakdown &amp; Key Descriptives</a:t>
            </a:r>
            <a:endParaRPr lang="en-US" sz="27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4001273348"/>
              </p:ext>
            </p:extLst>
          </p:nvPr>
        </p:nvGraphicFramePr>
        <p:xfrm>
          <a:off x="320040" y="82296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440680" y="822960"/>
            <a:ext cx="1737360" cy="1170432"/>
          </a:xfrm>
          <a:prstGeom prst="roundRect">
            <a:avLst>
              <a:gd name="adj" fmla="val 937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40680" y="9144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79.8%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440680" y="142646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Pizza's share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total revenue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0" y="822960"/>
            <a:ext cx="1737360" cy="1170432"/>
          </a:xfrm>
          <a:prstGeom prst="roundRect">
            <a:avLst>
              <a:gd name="adj" fmla="val 9375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0" y="9144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₹1,099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0" y="142646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Mean daily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revenue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40680" y="2121408"/>
            <a:ext cx="1737360" cy="1170432"/>
          </a:xfrm>
          <a:prstGeom prst="roundRect">
            <a:avLst>
              <a:gd name="adj" fmla="val 9375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40680" y="22128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₹923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440680" y="27249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Median daily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revenue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315200" y="2121408"/>
            <a:ext cx="1737360" cy="1170432"/>
          </a:xfrm>
          <a:prstGeom prst="roundRect">
            <a:avLst>
              <a:gd name="adj" fmla="val 9375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0" y="221284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₹853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15200" y="2724912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Std deviation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(high variability!)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40680" y="3511296"/>
            <a:ext cx="3429000" cy="1152144"/>
          </a:xfrm>
          <a:prstGeom prst="roundRect">
            <a:avLst>
              <a:gd name="adj" fmla="val 11905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351129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Distribution Shape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577840" y="3776472"/>
            <a:ext cx="31638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Mean (₹1,099) &gt; Median (₹923) → right-skewed distribution. Caused by catering event outliers (max ₹7,425). SD = 78% of mean → extreme day-to-day variability. This justifies using MA4 smoothing over a flat average for procurement decisions.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3749040"/>
            <a:ext cx="5029200" cy="1170432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749040"/>
            <a:ext cx="4754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ℹ️  Revenue alone overstates low-volume, high-price items.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Volume leaders: Kulhad Pizza (164 units) · Mix Veg Margharita (140 units) · Cheese N Corn (105 units).</a:t>
            </a:r>
            <a:endParaRPr lang="en-US" sz="10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1F2937"/>
                </a:solidFill>
              </a:rPr>
              <a:t>Price range: ₹30 (add-on) → ₹579 (large family pizza). Both revenue AND volume should drive stocking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 — Mapped to P1 · P2 · P3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777240"/>
            <a:ext cx="8549640" cy="1280160"/>
          </a:xfrm>
          <a:prstGeom prst="roundRect">
            <a:avLst>
              <a:gd name="adj" fmla="val 8571"/>
            </a:avLst>
          </a:prstGeom>
          <a:solidFill>
            <a:srgbClr val="F9FAFB"/>
          </a:solidFill>
          <a:ln w="1016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71716" y="790956"/>
            <a:ext cx="1188720" cy="1289304"/>
          </a:xfrm>
          <a:prstGeom prst="roundRect">
            <a:avLst>
              <a:gd name="adj" fmla="val 88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5996" y="145667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📈  Forecasting Fix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08760" y="93268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1.  Every Friday: MA4 = avg of last 4 weeks' revenue → next week's procurement target (&lt; 5 min, no software)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08760" y="131673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2.  Seasonal adjustments: Oct –10% · Nov –12% · Dec –15% · Jan +20%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08760" y="170078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3.  Expected: Reduce winter wastage by ₹3,000–5,000/month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144905"/>
            <a:ext cx="8549640" cy="1280160"/>
          </a:xfrm>
          <a:prstGeom prst="roundRect">
            <a:avLst>
              <a:gd name="adj" fmla="val 8571"/>
            </a:avLst>
          </a:prstGeom>
          <a:solidFill>
            <a:srgbClr val="F9FAFB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251" y="2169965"/>
            <a:ext cx="1234440" cy="1280160"/>
          </a:xfrm>
          <a:prstGeom prst="roundRect">
            <a:avLst>
              <a:gd name="adj" fmla="val 8889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4048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7671" y="29077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📦  Inventory Fix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26411" y="2289935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1.  Class A (12 items): Always in stock with 2-day buffer on 7 core ingredients (Cheese, Base, Sauce, Capsicum, Corn, Onion, Paneer)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08760" y="2664839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2.  Class C (37 items): Stop pre-stocking immediately — order only when customer requests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526411" y="304605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3.  Expected: Zero Class A stockouts · Protect ₹72,605 revenue per 5-month period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553487"/>
            <a:ext cx="8549640" cy="1280160"/>
          </a:xfrm>
          <a:prstGeom prst="roundRect">
            <a:avLst>
              <a:gd name="adj" fmla="val 8571"/>
            </a:avLst>
          </a:prstGeom>
          <a:solidFill>
            <a:srgbClr val="F9FAFB"/>
          </a:solidFill>
          <a:ln w="10160">
            <a:solidFill>
              <a:srgbClr val="1E84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5996" y="3539830"/>
            <a:ext cx="1234440" cy="1280160"/>
          </a:xfrm>
          <a:prstGeom prst="roundRect">
            <a:avLst>
              <a:gd name="adj" fmla="val 8889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82219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5996" y="426671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EEE"/>
                </a:solidFill>
              </a:rPr>
              <a:t>🎯  Retention Fix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08760" y="364845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1.  Tuesday Combo: Kulhad Pizza + Cold Drink at ₹120 (~10% off) — handwritten sign at entrance within 1 month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08760" y="399945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2.  Kulhad Pizza (164 units, highest volume) available 7 days/week without exception — retention anchor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508760" y="4373263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</a:rPr>
              <a:t>3.  Begin WhatsApp contact collection; build 100+ list in 3 months · Expected: +₹2,600/month from Tuesday alone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0040" y="4681728"/>
            <a:ext cx="8549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Future Scope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9FAFB"/>
          </a:solidFill>
          <a:ln w="1016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48056" y="8778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</a:rPr>
              <a:t>⚠  5-month data only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8056" y="1152144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Cannot do full seasonal decomposition or ARIMA (needs 2+ years). Seasonal factors derived from just 1 cycle.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804672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9FAFB"/>
          </a:solidFill>
          <a:ln w="1016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82896" y="8778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</a:rPr>
              <a:t>⚠  No customer identification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82896" y="1152144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Anonymous walk-ins → CLV, repeat visit rate, cohort retention all uncomputable. POS system needed.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9FAFB"/>
          </a:solidFill>
          <a:ln w="10160">
            <a:solidFill>
              <a:srgbClr val="117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8105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A65"/>
                </a:solidFill>
              </a:rPr>
              <a:t>⚠  Incomplete purchase 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" y="208483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Only cheese, milk, toppings billed. No wheat/flour data → COGS and gross margin per item unavailable.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4114800" cy="804672"/>
          </a:xfrm>
          <a:prstGeom prst="roundRect">
            <a:avLst>
              <a:gd name="adj" fmla="val 11364"/>
            </a:avLst>
          </a:prstGeom>
          <a:solidFill>
            <a:srgbClr val="F9FAFB"/>
          </a:solidFill>
          <a:ln w="1016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82896" y="18105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</a:rPr>
              <a:t>⚠  ABC without XYZ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82896" y="208483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</a:rPr>
              <a:t>Demand variability not measured. With 12+ months, CV analysis would enable ABC-XYZ and proper safety stock sizing.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" y="27432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" y="3017520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90088"/>
            <a:ext cx="8549640" cy="475488"/>
          </a:xfrm>
          <a:prstGeom prst="roundRect">
            <a:avLst>
              <a:gd name="adj" fmla="val 28846"/>
            </a:avLst>
          </a:prstGeom>
          <a:solidFill>
            <a:srgbClr val="1A8FC1"/>
          </a:solidFill>
          <a:ln w="12700">
            <a:solidFill>
              <a:srgbClr val="1A8F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" y="3017520"/>
            <a:ext cx="8549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Future Scope: ABC-XYZ with 12+ months  ·  Holt-Winters / seasonal ARIMA  ·  Free POS app (Vyapar / OkCredit)  ·  WhatsApp CRM  ·  Full COGS &amp; profit-based ABC classification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338828"/>
            <a:ext cx="9144000" cy="9372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2519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544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79.8%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0040" y="49103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Revenue from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Pizza alone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96312" y="4544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41.6%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496312" y="49103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Revenue from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weekend 2 days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72584" y="4544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22.5%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72584" y="49103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Revenue from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top 2 items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48856" y="454456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39C12"/>
                </a:solidFill>
              </a:rPr>
              <a:t>~₹21K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48856" y="491032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Estimated 5-month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AACC"/>
                </a:solidFill>
              </a:rPr>
              <a:t>impact of recs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1745</Words>
  <Application>Microsoft Office PowerPoint</Application>
  <PresentationFormat>On-screen Show (16:9)</PresentationFormat>
  <Paragraphs>201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Sales Forecasting and Inventory Management for Mr. Pizza Shop</dc:title>
  <dc:subject>PptxGenJS Presentation</dc:subject>
  <dc:creator>Lakshika Dev</dc:creator>
  <cp:lastModifiedBy>parth dev</cp:lastModifiedBy>
  <cp:revision>2</cp:revision>
  <dcterms:created xsi:type="dcterms:W3CDTF">2026-05-18T05:02:06Z</dcterms:created>
  <dcterms:modified xsi:type="dcterms:W3CDTF">2026-05-18T13:49:57Z</dcterms:modified>
</cp:coreProperties>
</file>